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56" r:id="rId5"/>
  </p:sldIdLst>
  <p:sldSz cx="43891200" cy="32918400"/>
  <p:notesSz cx="7010400" cy="9296400"/>
  <p:defaultTextStyle>
    <a:defPPr>
      <a:defRPr lang="en-US"/>
    </a:defPPr>
    <a:lvl1pPr marL="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8F8F8"/>
    <a:srgbClr val="FFC4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83" autoAdjust="0"/>
    <p:restoredTop sz="94558"/>
  </p:normalViewPr>
  <p:slideViewPr>
    <p:cSldViewPr snapToGrid="0">
      <p:cViewPr>
        <p:scale>
          <a:sx n="21" d="100"/>
          <a:sy n="21" d="100"/>
        </p:scale>
        <p:origin x="58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F4125-C181-7349-A317-D14EC1418B08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4463" y="1162050"/>
            <a:ext cx="418147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BCB247-20DF-B945-8524-5FB6692B41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359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932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675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20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783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234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40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78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663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47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16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99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5DCE3-AC11-42FE-9BF9-27A9ABDF5F2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C9EF5-FD88-4859-9AD7-2B1B56210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63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hyperlink" Target="https://data.scorenetwork.org/running/boston_marathon_2023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1118919" y="20773201"/>
            <a:ext cx="12856115" cy="7664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ame 4"/>
          <p:cNvSpPr/>
          <p:nvPr/>
        </p:nvSpPr>
        <p:spPr>
          <a:xfrm>
            <a:off x="522372" y="4991100"/>
            <a:ext cx="14154150" cy="27446037"/>
          </a:xfrm>
          <a:prstGeom prst="frame">
            <a:avLst>
              <a:gd name="adj1" fmla="val 156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36827" y="951157"/>
            <a:ext cx="41643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513248" eaLnBrk="0" hangingPunct="0"/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Predicting Marathon Race Performance Using Machine Learning</a:t>
            </a:r>
            <a:endParaRPr lang="en-US" sz="5400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Frame 6"/>
          <p:cNvSpPr/>
          <p:nvPr/>
        </p:nvSpPr>
        <p:spPr>
          <a:xfrm>
            <a:off x="503322" y="609600"/>
            <a:ext cx="42862500" cy="4191000"/>
          </a:xfrm>
          <a:prstGeom prst="frame">
            <a:avLst>
              <a:gd name="adj1" fmla="val 5457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ame 15"/>
          <p:cNvSpPr/>
          <p:nvPr/>
        </p:nvSpPr>
        <p:spPr>
          <a:xfrm>
            <a:off x="14876547" y="4991099"/>
            <a:ext cx="14154150" cy="27446038"/>
          </a:xfrm>
          <a:prstGeom prst="frame">
            <a:avLst>
              <a:gd name="adj1" fmla="val 156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Frame 16"/>
          <p:cNvSpPr/>
          <p:nvPr/>
        </p:nvSpPr>
        <p:spPr>
          <a:xfrm>
            <a:off x="29230722" y="4991099"/>
            <a:ext cx="14154150" cy="27446038"/>
          </a:xfrm>
          <a:prstGeom prst="frame">
            <a:avLst>
              <a:gd name="adj1" fmla="val 156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175395" y="5634355"/>
            <a:ext cx="12856115" cy="7664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77152" y="5538103"/>
            <a:ext cx="7844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8F8F8"/>
                </a:solidFill>
              </a:rPr>
              <a:t>Introduction &amp; Motivation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482" y="6769761"/>
            <a:ext cx="12931926" cy="1483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Marathon performance depends on factors such as age, gender, pacing, and endurance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Goal: predict a runner’s </a:t>
            </a:r>
            <a:r>
              <a:rPr lang="en-US" sz="4400" b="1" dirty="0"/>
              <a:t>net marathon finish time </a:t>
            </a:r>
            <a:r>
              <a:rPr lang="en-US" sz="4400" dirty="0"/>
              <a:t>using ML models trained on real race data</a:t>
            </a:r>
            <a:endParaRPr lang="en-US" sz="4400" b="1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Applications: training optimization, sports analytics, and performance prediction </a:t>
            </a:r>
          </a:p>
          <a:p>
            <a:endParaRPr lang="en-US" sz="4000" dirty="0">
              <a:solidFill>
                <a:srgbClr val="7030A0"/>
              </a:solidFill>
            </a:endParaRPr>
          </a:p>
          <a:p>
            <a:r>
              <a:rPr lang="en-US" sz="4800" b="1" dirty="0">
                <a:solidFill>
                  <a:srgbClr val="7030A0"/>
                </a:solidFill>
              </a:rPr>
              <a:t>Project Objectives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Predict marathon finish time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Compare: </a:t>
            </a:r>
            <a:r>
              <a:rPr lang="en-US" sz="4400" b="1" dirty="0"/>
              <a:t>Linear Regression </a:t>
            </a:r>
            <a:r>
              <a:rPr lang="en-US" sz="4400" dirty="0"/>
              <a:t>(baseline) vs. </a:t>
            </a:r>
            <a:r>
              <a:rPr lang="en-US" sz="4400" b="1" dirty="0"/>
              <a:t>Multi-Layer Perceptron (MLP) Neural Network Regression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Evaluate models using </a:t>
            </a:r>
            <a:r>
              <a:rPr lang="en-US" sz="4400" b="1" dirty="0"/>
              <a:t>Mean Absolute Error (MAE) </a:t>
            </a:r>
            <a:r>
              <a:rPr lang="en-US" sz="4400" dirty="0"/>
              <a:t>and </a:t>
            </a:r>
            <a:r>
              <a:rPr lang="en-US" sz="4400" b="1" dirty="0"/>
              <a:t>Root Mean Squared Error (RMSE) </a:t>
            </a:r>
          </a:p>
          <a:p>
            <a:endParaRPr lang="en-US" sz="4600" b="1" dirty="0">
              <a:solidFill>
                <a:srgbClr val="7030A0"/>
              </a:solidFill>
            </a:endParaRPr>
          </a:p>
          <a:p>
            <a:r>
              <a:rPr lang="en-US" sz="4800" b="1" dirty="0">
                <a:solidFill>
                  <a:srgbClr val="7030A0"/>
                </a:solidFill>
              </a:rPr>
              <a:t>Dataset</a:t>
            </a:r>
            <a:endParaRPr lang="en-US" sz="4800" dirty="0">
              <a:solidFill>
                <a:srgbClr val="7030A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b="1" dirty="0"/>
              <a:t>2023 Boston Marathon </a:t>
            </a:r>
            <a:r>
              <a:rPr lang="en-US" sz="4400" dirty="0">
                <a:sym typeface="Wingdings" panose="05000000000000000000" pitchFamily="2" charset="2"/>
              </a:rPr>
              <a:t> </a:t>
            </a:r>
            <a:r>
              <a:rPr lang="en-US" sz="4400" u="sng" dirty="0"/>
              <a:t>26,598 runners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Key Features: </a:t>
            </a:r>
            <a:r>
              <a:rPr lang="en-US" sz="4400" b="1" dirty="0" err="1"/>
              <a:t>age_group</a:t>
            </a:r>
            <a:r>
              <a:rPr lang="en-US" sz="4400" dirty="0"/>
              <a:t>, </a:t>
            </a:r>
            <a:r>
              <a:rPr lang="en-US" sz="4400" b="1" dirty="0"/>
              <a:t>gender</a:t>
            </a:r>
            <a:r>
              <a:rPr lang="en-US" sz="4400" dirty="0"/>
              <a:t>, </a:t>
            </a:r>
            <a:r>
              <a:rPr lang="en-US" sz="4400" b="1" dirty="0" err="1"/>
              <a:t>half_time_sec</a:t>
            </a:r>
            <a:r>
              <a:rPr lang="en-US" sz="4400" dirty="0"/>
              <a:t>, etc.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Target Variable: </a:t>
            </a:r>
            <a:r>
              <a:rPr lang="en-US" sz="4400" b="1" dirty="0" err="1"/>
              <a:t>finish_net_sec</a:t>
            </a:r>
            <a:endParaRPr lang="en-US" sz="4400" b="1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Additional variables include placement rankings and split times.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4000" dirty="0"/>
          </a:p>
        </p:txBody>
      </p:sp>
      <p:sp>
        <p:nvSpPr>
          <p:cNvPr id="20" name="TextBox 19"/>
          <p:cNvSpPr txBox="1"/>
          <p:nvPr/>
        </p:nvSpPr>
        <p:spPr>
          <a:xfrm>
            <a:off x="2322940" y="20686879"/>
            <a:ext cx="105530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8F8F8"/>
                </a:solidFill>
              </a:rPr>
              <a:t>Model Prediction Visualization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9710" y="27380297"/>
            <a:ext cx="128281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Figure 1. Actual vs. predicted marathon finish times for both models. Points close to the diagonal indicate accurate predictions.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0712" y="29483221"/>
            <a:ext cx="127111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Both models show strong predictive performance accuracy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Neutral network slightly improves accuracy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473923" y="5694990"/>
            <a:ext cx="12856115" cy="7664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17975680" y="5598738"/>
            <a:ext cx="7844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8F8F8"/>
                </a:solidFill>
              </a:rPr>
              <a:t>Methodology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4437" y="6712567"/>
            <a:ext cx="12861380" cy="21975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Imported dataset into MATLAB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Removed missing values (</a:t>
            </a:r>
            <a:r>
              <a:rPr lang="en-US" sz="4400" b="1" dirty="0" err="1"/>
              <a:t>rmmissing</a:t>
            </a:r>
            <a:r>
              <a:rPr lang="en-US" sz="4400" dirty="0"/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Converted categorical variables (</a:t>
            </a:r>
            <a:r>
              <a:rPr lang="en-US" sz="4400" b="1" dirty="0" err="1"/>
              <a:t>age_group</a:t>
            </a:r>
            <a:r>
              <a:rPr lang="en-US" sz="4400" dirty="0"/>
              <a:t>, </a:t>
            </a:r>
            <a:r>
              <a:rPr lang="en-US" sz="4400" b="1" dirty="0"/>
              <a:t>gender</a:t>
            </a:r>
            <a:r>
              <a:rPr lang="en-US" sz="4400" dirty="0"/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Selected relevant features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Split into training and testing sets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4200" dirty="0"/>
          </a:p>
          <a:p>
            <a:r>
              <a:rPr lang="en-US" sz="4800" b="1" dirty="0">
                <a:solidFill>
                  <a:srgbClr val="7030A0"/>
                </a:solidFill>
              </a:rPr>
              <a:t>Models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b="1" dirty="0"/>
              <a:t>Linear Regression: </a:t>
            </a:r>
            <a:r>
              <a:rPr lang="en-US" sz="4400" dirty="0"/>
              <a:t>baseline model and assumes linear relationship among variables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b="1" dirty="0"/>
              <a:t>MLP Neural Network Regression: </a:t>
            </a:r>
            <a:r>
              <a:rPr lang="en-US" sz="4400" dirty="0"/>
              <a:t>32</a:t>
            </a:r>
            <a:r>
              <a:rPr lang="en-US" sz="4400" dirty="0">
                <a:sym typeface="Wingdings" panose="05000000000000000000" pitchFamily="2" charset="2"/>
              </a:rPr>
              <a:t>16 neurons architecture, </a:t>
            </a:r>
            <a:r>
              <a:rPr lang="en-US" sz="4400" dirty="0" err="1">
                <a:sym typeface="Wingdings" panose="05000000000000000000" pitchFamily="2" charset="2"/>
              </a:rPr>
              <a:t>ReLU</a:t>
            </a:r>
            <a:r>
              <a:rPr lang="en-US" sz="4400" dirty="0">
                <a:sym typeface="Wingdings" panose="05000000000000000000" pitchFamily="2" charset="2"/>
              </a:rPr>
              <a:t> activation, and captures nonlinear relationships</a:t>
            </a:r>
          </a:p>
          <a:p>
            <a:endParaRPr lang="en-US" sz="4400" dirty="0">
              <a:sym typeface="Wingdings" panose="05000000000000000000" pitchFamily="2" charset="2"/>
            </a:endParaRPr>
          </a:p>
          <a:p>
            <a:r>
              <a:rPr lang="en-US" sz="4800" b="1" dirty="0">
                <a:solidFill>
                  <a:srgbClr val="7030A0"/>
                </a:solidFill>
              </a:rPr>
              <a:t>Results</a:t>
            </a:r>
          </a:p>
          <a:p>
            <a:endParaRPr lang="en-US" sz="4400" dirty="0"/>
          </a:p>
          <a:p>
            <a:pPr lvl="1"/>
            <a:endParaRPr lang="en-US" sz="4400" dirty="0"/>
          </a:p>
          <a:p>
            <a:endParaRPr lang="en-US" sz="4200" dirty="0"/>
          </a:p>
          <a:p>
            <a:endParaRPr lang="en-US" sz="4200" dirty="0"/>
          </a:p>
          <a:p>
            <a:endParaRPr lang="en-US" sz="4200" dirty="0"/>
          </a:p>
          <a:p>
            <a:endParaRPr lang="en-US" sz="4400" dirty="0">
              <a:solidFill>
                <a:srgbClr val="7030A0"/>
              </a:solidFill>
            </a:endParaRPr>
          </a:p>
          <a:p>
            <a:endParaRPr lang="en-US" sz="4200" dirty="0"/>
          </a:p>
          <a:p>
            <a:endParaRPr lang="en-US" sz="4800" b="1" dirty="0">
              <a:solidFill>
                <a:srgbClr val="7030A0"/>
              </a:solidFill>
            </a:endParaRPr>
          </a:p>
          <a:p>
            <a:r>
              <a:rPr lang="en-US" sz="4800" b="1" dirty="0">
                <a:solidFill>
                  <a:srgbClr val="7030A0"/>
                </a:solidFill>
              </a:rPr>
              <a:t>Observations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Neural network slightly outperforms linear regression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Both models perform similarly</a:t>
            </a:r>
          </a:p>
          <a:p>
            <a:endParaRPr lang="en-US" sz="4400" dirty="0"/>
          </a:p>
          <a:p>
            <a:r>
              <a:rPr lang="en-US" sz="4800" b="1" dirty="0">
                <a:solidFill>
                  <a:srgbClr val="7030A0"/>
                </a:solidFill>
              </a:rPr>
              <a:t>Feature Relationship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Half-marathon split time shows a strong linear relationship with finish time</a:t>
            </a:r>
            <a:endParaRPr lang="en-US" sz="4400" b="1" dirty="0"/>
          </a:p>
          <a:p>
            <a:endParaRPr lang="en-US" sz="4800" b="1" dirty="0">
              <a:solidFill>
                <a:srgbClr val="7030A0"/>
              </a:solidFill>
            </a:endParaRPr>
          </a:p>
          <a:p>
            <a:endParaRPr lang="en-US" sz="4400" dirty="0"/>
          </a:p>
        </p:txBody>
      </p:sp>
      <p:sp>
        <p:nvSpPr>
          <p:cNvPr id="24" name="TextBox 23"/>
          <p:cNvSpPr txBox="1"/>
          <p:nvPr/>
        </p:nvSpPr>
        <p:spPr>
          <a:xfrm>
            <a:off x="15865980" y="19919084"/>
            <a:ext cx="1279582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Figure 2. Comparison of Linear Regression and Neural Network performance using MAE and RMSE.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583139"/>
              </p:ext>
            </p:extLst>
          </p:nvPr>
        </p:nvGraphicFramePr>
        <p:xfrm>
          <a:off x="15220274" y="16374741"/>
          <a:ext cx="13419096" cy="32932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30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30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3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5555">
                <a:tc>
                  <a:txBody>
                    <a:bodyPr/>
                    <a:lstStyle/>
                    <a:p>
                      <a:pPr algn="ctr"/>
                      <a:r>
                        <a:rPr lang="en-US" sz="4800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800" dirty="0"/>
                        <a:t>MAE (sec)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800" baseline="0" dirty="0"/>
                        <a:t>RMSE (sec)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3827">
                <a:tc>
                  <a:txBody>
                    <a:bodyPr/>
                    <a:lstStyle/>
                    <a:p>
                      <a:pPr algn="ctr"/>
                      <a:r>
                        <a:rPr lang="en-US" sz="4200" dirty="0"/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4000" b="1" dirty="0">
                          <a:solidFill>
                            <a:schemeClr val="tx1"/>
                          </a:solidFill>
                        </a:rPr>
                        <a:t>384.398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4000" b="1" dirty="0">
                          <a:solidFill>
                            <a:schemeClr val="tx1"/>
                          </a:solidFill>
                        </a:rPr>
                        <a:t>548.9473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3827">
                <a:tc>
                  <a:txBody>
                    <a:bodyPr/>
                    <a:lstStyle/>
                    <a:p>
                      <a:pPr algn="ctr"/>
                      <a:r>
                        <a:rPr lang="en-US" sz="4200" dirty="0"/>
                        <a:t>Neural Network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4000" b="1" dirty="0">
                          <a:solidFill>
                            <a:schemeClr val="tx1"/>
                          </a:solidFill>
                        </a:rPr>
                        <a:t>381.8115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4000" b="1" dirty="0">
                          <a:solidFill>
                            <a:schemeClr val="tx1"/>
                          </a:solidFill>
                        </a:rPr>
                        <a:t>547.8768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29778587" y="25378355"/>
            <a:ext cx="12856115" cy="7664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32280344" y="25264917"/>
            <a:ext cx="7844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8F8F8"/>
                </a:solidFill>
              </a:rPr>
              <a:t>Acknowledgments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96338" y="26402829"/>
            <a:ext cx="1286138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SCORE Sports Data Repository – </a:t>
            </a:r>
            <a:r>
              <a:rPr lang="en-US" sz="4400" u="sng" dirty="0">
                <a:hlinkClick r:id="rId2"/>
              </a:rPr>
              <a:t>2023 Boston Marathon runners</a:t>
            </a:r>
            <a:r>
              <a:rPr lang="en-US" sz="4400" dirty="0"/>
              <a:t>. Provides the full dataset of 26,598 runners, including age group, gender, placements, and half/full marathon times, used for all calculations, graphs, and statistical analysis in the project.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400" dirty="0"/>
              <a:t>MATLAB (MathWorks) for data analysis and model development.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4000" dirty="0"/>
          </a:p>
        </p:txBody>
      </p:sp>
      <p:sp>
        <p:nvSpPr>
          <p:cNvPr id="43" name="Rectangle 42"/>
          <p:cNvSpPr/>
          <p:nvPr/>
        </p:nvSpPr>
        <p:spPr>
          <a:xfrm>
            <a:off x="29778587" y="5722432"/>
            <a:ext cx="12856115" cy="7664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2280344" y="5626180"/>
            <a:ext cx="7844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>
                <a:solidFill>
                  <a:srgbClr val="F8F8F8"/>
                </a:solidFill>
              </a:rPr>
              <a:t>Discussion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77107" y="7033354"/>
            <a:ext cx="12861380" cy="20867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Strong linear relationship enables accurate predictions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Neural networks capture additional nonlinear patterns</a:t>
            </a:r>
          </a:p>
          <a:p>
            <a:endParaRPr lang="en-US" sz="4400" dirty="0"/>
          </a:p>
          <a:p>
            <a:r>
              <a:rPr lang="en-US" sz="5400" b="1" dirty="0">
                <a:solidFill>
                  <a:srgbClr val="7030A0"/>
                </a:solidFill>
              </a:rPr>
              <a:t>Conclusion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Machine learning accurately predicts marathon finish times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b="1" dirty="0"/>
              <a:t>Half-marathon split </a:t>
            </a:r>
            <a:r>
              <a:rPr lang="en-US" sz="4800" dirty="0"/>
              <a:t>is the </a:t>
            </a:r>
            <a:r>
              <a:rPr lang="en-US" sz="4800" u="sng" dirty="0"/>
              <a:t>key</a:t>
            </a:r>
            <a:r>
              <a:rPr lang="en-US" sz="4800" dirty="0"/>
              <a:t> predictor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Both models achieve strong predictive accuracy</a:t>
            </a:r>
          </a:p>
          <a:p>
            <a:endParaRPr lang="en-US" sz="4800" dirty="0"/>
          </a:p>
          <a:p>
            <a:r>
              <a:rPr lang="en-US" sz="5400" b="1" dirty="0">
                <a:solidFill>
                  <a:srgbClr val="7030A0"/>
                </a:solidFill>
              </a:rPr>
              <a:t>Future Work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Add more features (weather, elevation, training data)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Hyperparameter tuning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Cross-validation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Explore additional ML models</a:t>
            </a:r>
          </a:p>
          <a:p>
            <a:endParaRPr lang="en-US" sz="4800" dirty="0"/>
          </a:p>
          <a:p>
            <a:r>
              <a:rPr lang="en-US" sz="5400" b="1" dirty="0">
                <a:solidFill>
                  <a:srgbClr val="7030A0"/>
                </a:solidFill>
              </a:rPr>
              <a:t>Key Takeaways</a:t>
            </a:r>
            <a:endParaRPr lang="en-US" sz="48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b="1" dirty="0"/>
              <a:t>Half-marathon split time</a:t>
            </a:r>
            <a:r>
              <a:rPr lang="en-US" sz="4800" dirty="0"/>
              <a:t> is the strongest predictor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Both models achieve high accuracy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/>
              <a:t>Neural network provides slight improvement</a:t>
            </a:r>
          </a:p>
          <a:p>
            <a:endParaRPr lang="en-US" sz="4800" b="1" dirty="0">
              <a:solidFill>
                <a:srgbClr val="7030A0"/>
              </a:solidFill>
            </a:endParaRPr>
          </a:p>
          <a:p>
            <a:endParaRPr lang="en-US" sz="4400" dirty="0"/>
          </a:p>
          <a:p>
            <a:endParaRPr lang="en-US" sz="4400" dirty="0"/>
          </a:p>
          <a:p>
            <a:endParaRPr lang="en-US" sz="4800" b="1" dirty="0">
              <a:solidFill>
                <a:srgbClr val="7030A0"/>
              </a:solidFill>
            </a:endParaRPr>
          </a:p>
          <a:p>
            <a:endParaRPr lang="en-US" sz="4800" b="1" dirty="0">
              <a:solidFill>
                <a:srgbClr val="7030A0"/>
              </a:solidFill>
            </a:endParaRPr>
          </a:p>
        </p:txBody>
      </p:sp>
      <p:pic>
        <p:nvPicPr>
          <p:cNvPr id="4" name="Picture 3" descr="A screenshot of a video game&#10;&#10;Description automatically generated with medium confidence">
            <a:extLst>
              <a:ext uri="{FF2B5EF4-FFF2-40B4-BE49-F238E27FC236}">
                <a16:creationId xmlns:a16="http://schemas.microsoft.com/office/drawing/2014/main" id="{E373A6A2-9624-FF92-6F64-2C09FBF8A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59865" y="1089704"/>
            <a:ext cx="5022915" cy="3139322"/>
          </a:xfrm>
          <a:prstGeom prst="rect">
            <a:avLst/>
          </a:prstGeom>
        </p:spPr>
      </p:pic>
      <p:pic>
        <p:nvPicPr>
          <p:cNvPr id="14" name="Picture 13" descr="Shape&#10;&#10;Description automatically generated with low confidence">
            <a:extLst>
              <a:ext uri="{FF2B5EF4-FFF2-40B4-BE49-F238E27FC236}">
                <a16:creationId xmlns:a16="http://schemas.microsoft.com/office/drawing/2014/main" id="{FC1B9225-F379-FE11-70AF-7352599F65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95" y="1250400"/>
            <a:ext cx="7765405" cy="28941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8B9D9E-64F4-05F0-0C07-12D0A8B09955}"/>
              </a:ext>
            </a:extLst>
          </p:cNvPr>
          <p:cNvSpPr txBox="1"/>
          <p:nvPr/>
        </p:nvSpPr>
        <p:spPr>
          <a:xfrm>
            <a:off x="9120036" y="2274886"/>
            <a:ext cx="14437502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0" dirty="0"/>
              <a:t>Sanad Sahawneh, Brian Allen, and Mahib Rahman</a:t>
            </a:r>
          </a:p>
          <a:p>
            <a:pPr algn="ctr"/>
            <a:r>
              <a:rPr lang="en-US" sz="5000" dirty="0"/>
              <a:t>College of Nanotechnology, Science, and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C4459B-068A-5775-3B7A-AAE8A7EF3981}"/>
              </a:ext>
            </a:extLst>
          </p:cNvPr>
          <p:cNvSpPr txBox="1"/>
          <p:nvPr/>
        </p:nvSpPr>
        <p:spPr>
          <a:xfrm>
            <a:off x="22327333" y="2328316"/>
            <a:ext cx="1656273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0" dirty="0"/>
              <a:t>Dr. Hany </a:t>
            </a:r>
            <a:r>
              <a:rPr lang="en-US" sz="5000" dirty="0" err="1"/>
              <a:t>Elgala</a:t>
            </a:r>
            <a:r>
              <a:rPr lang="en-US" sz="5000" dirty="0"/>
              <a:t> / TA </a:t>
            </a:r>
            <a:r>
              <a:rPr lang="en-US" sz="5000" dirty="0" err="1"/>
              <a:t>Honglan</a:t>
            </a:r>
            <a:r>
              <a:rPr lang="en-US" sz="5000" dirty="0"/>
              <a:t> Chen</a:t>
            </a:r>
          </a:p>
          <a:p>
            <a:pPr algn="ctr"/>
            <a:r>
              <a:rPr lang="en-US" sz="5000" dirty="0"/>
              <a:t>Department of Electrical and Computer Engineering</a:t>
            </a:r>
          </a:p>
        </p:txBody>
      </p:sp>
      <p:pic>
        <p:nvPicPr>
          <p:cNvPr id="10" name="Picture 9" descr="A graph with blue dots&#10;&#10;AI-generated content may be incorrect.">
            <a:extLst>
              <a:ext uri="{FF2B5EF4-FFF2-40B4-BE49-F238E27FC236}">
                <a16:creationId xmlns:a16="http://schemas.microsoft.com/office/drawing/2014/main" id="{DB6C1AF1-F7ED-9057-3011-06EE061B7C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482" y="22038141"/>
            <a:ext cx="6163937" cy="4801450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pic>
        <p:nvPicPr>
          <p:cNvPr id="11" name="Picture 10" descr="A graph of a network&#10;&#10;AI-generated content may be incorrect.">
            <a:extLst>
              <a:ext uri="{FF2B5EF4-FFF2-40B4-BE49-F238E27FC236}">
                <a16:creationId xmlns:a16="http://schemas.microsoft.com/office/drawing/2014/main" id="{2B74334D-1A9C-6315-3215-C2053CA79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8723" y="22038141"/>
            <a:ext cx="6382758" cy="4832114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561DE99-B65B-501C-414F-8FDC5708481B}"/>
              </a:ext>
            </a:extLst>
          </p:cNvPr>
          <p:cNvSpPr/>
          <p:nvPr/>
        </p:nvSpPr>
        <p:spPr>
          <a:xfrm>
            <a:off x="926201" y="21795091"/>
            <a:ext cx="13358318" cy="5375882"/>
          </a:xfrm>
          <a:prstGeom prst="rect">
            <a:avLst/>
          </a:pr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8F98D3-FFFF-D9E7-C8D8-F2E97D7EED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570" y="27249860"/>
            <a:ext cx="6106679" cy="471738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81B06F01-CC1A-090B-DC92-59A712276A7D}"/>
              </a:ext>
            </a:extLst>
          </p:cNvPr>
          <p:cNvSpPr txBox="1"/>
          <p:nvPr/>
        </p:nvSpPr>
        <p:spPr>
          <a:xfrm>
            <a:off x="21929238" y="28088969"/>
            <a:ext cx="65091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Figure 3. Half-marathon split time vs final finish time showing strong linear correlation.</a:t>
            </a:r>
          </a:p>
        </p:txBody>
      </p:sp>
    </p:spTree>
    <p:extLst>
      <p:ext uri="{BB962C8B-B14F-4D97-AF65-F5344CB8AC3E}">
        <p14:creationId xmlns:p14="http://schemas.microsoft.com/office/powerpoint/2010/main" val="2887143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030A0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0148CE03E12C4A97B128A60B4E5ABD" ma:contentTypeVersion="15" ma:contentTypeDescription="Create a new document." ma:contentTypeScope="" ma:versionID="281956ca766578aa89fa9a9bb539b4e7">
  <xsd:schema xmlns:xsd="http://www.w3.org/2001/XMLSchema" xmlns:xs="http://www.w3.org/2001/XMLSchema" xmlns:p="http://schemas.microsoft.com/office/2006/metadata/properties" xmlns:ns2="e32a62a1-688d-4eef-a5ff-f48dc6810390" xmlns:ns3="43311834-68c0-48e8-b8f1-7cfe371563c1" targetNamespace="http://schemas.microsoft.com/office/2006/metadata/properties" ma:root="true" ma:fieldsID="92b8f0b43d03bd6ca55643023c8a6d1e" ns2:_="" ns3:_="">
    <xsd:import namespace="e32a62a1-688d-4eef-a5ff-f48dc6810390"/>
    <xsd:import namespace="43311834-68c0-48e8-b8f1-7cfe371563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LengthInSeconds" minOccurs="0"/>
                <xsd:element ref="ns2:Uploade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2a62a1-688d-4eef-a5ff-f48dc68103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4a2171c7-2f68-48d5-939d-db62c42d5d8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Uploaded" ma:index="22" nillable="true" ma:displayName="Uploaded" ma:default="1" ma:format="Dropdown" ma:internalName="Uploade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311834-68c0-48e8-b8f1-7cfe371563c1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3f555c2-4107-4e40-913d-87f924c8a7fd}" ma:internalName="TaxCatchAll" ma:showField="CatchAllData" ma:web="43311834-68c0-48e8-b8f1-7cfe371563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2a62a1-688d-4eef-a5ff-f48dc6810390">
      <Terms xmlns="http://schemas.microsoft.com/office/infopath/2007/PartnerControls"/>
    </lcf76f155ced4ddcb4097134ff3c332f>
    <TaxCatchAll xmlns="43311834-68c0-48e8-b8f1-7cfe371563c1" xsi:nil="true"/>
    <SharedWithUsers xmlns="43311834-68c0-48e8-b8f1-7cfe371563c1">
      <UserInfo>
        <DisplayName>Pulijala, Bharath Chandra</DisplayName>
        <AccountId>362</AccountId>
        <AccountType/>
      </UserInfo>
      <UserInfo>
        <DisplayName>Colvell, Matt T</DisplayName>
        <AccountId>364</AccountId>
        <AccountType/>
      </UserInfo>
      <UserInfo>
        <DisplayName>Odiadi, Nicole A</DisplayName>
        <AccountId>372</AccountId>
        <AccountType/>
      </UserInfo>
      <UserInfo>
        <DisplayName>Chilelli, Alessandro</DisplayName>
        <AccountId>400</AccountId>
        <AccountType/>
      </UserInfo>
      <UserInfo>
        <DisplayName>Freeman, Destiny</DisplayName>
        <AccountId>428</AccountId>
        <AccountType/>
      </UserInfo>
      <UserInfo>
        <DisplayName>Cambry- Perry, Naya I</DisplayName>
        <AccountId>429</AccountId>
        <AccountType/>
      </UserInfo>
      <UserInfo>
        <DisplayName>Afolabi, Saleem</DisplayName>
        <AccountId>432</AccountId>
        <AccountType/>
      </UserInfo>
      <UserInfo>
        <DisplayName>Thomas, Ralph</DisplayName>
        <AccountId>452</AccountId>
        <AccountType/>
      </UserInfo>
      <UserInfo>
        <DisplayName>Iocca, Ryan C</DisplayName>
        <AccountId>505</AccountId>
        <AccountType/>
      </UserInfo>
      <UserInfo>
        <DisplayName>Kiszka, David P</DisplayName>
        <AccountId>349</AccountId>
        <AccountType/>
      </UserInfo>
      <UserInfo>
        <DisplayName>Philo, Jaelin A</DisplayName>
        <AccountId>375</AccountId>
        <AccountType/>
      </UserInfo>
      <UserInfo>
        <DisplayName>Neri, Frank J</DisplayName>
        <AccountId>655</AccountId>
        <AccountType/>
      </UserInfo>
    </SharedWithUsers>
    <Uploaded xmlns="e32a62a1-688d-4eef-a5ff-f48dc6810390">true</Uploaded>
  </documentManagement>
</p:properties>
</file>

<file path=customXml/itemProps1.xml><?xml version="1.0" encoding="utf-8"?>
<ds:datastoreItem xmlns:ds="http://schemas.openxmlformats.org/officeDocument/2006/customXml" ds:itemID="{44A2FEF6-7ABC-474D-BDC6-916EE9C340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1830F5C-5AC1-4B35-A75F-46EBEBEAB9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2a62a1-688d-4eef-a5ff-f48dc6810390"/>
    <ds:schemaRef ds:uri="43311834-68c0-48e8-b8f1-7cfe371563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163D63C-2CDF-45E8-86FC-0EBBC3696EEB}">
  <ds:schemaRefs>
    <ds:schemaRef ds:uri="http://schemas.microsoft.com/office/2006/metadata/properties"/>
    <ds:schemaRef ds:uri="http://schemas.microsoft.com/office/infopath/2007/PartnerControls"/>
    <ds:schemaRef ds:uri="e32a62a1-688d-4eef-a5ff-f48dc6810390"/>
    <ds:schemaRef ds:uri="43311834-68c0-48e8-b8f1-7cfe371563c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560</TotalTime>
  <Words>467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>University at Albany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Vitrano, Deana M</dc:creator>
  <cp:lastModifiedBy>Sanad Sahawneh</cp:lastModifiedBy>
  <cp:revision>53</cp:revision>
  <cp:lastPrinted>2019-11-19T17:54:50Z</cp:lastPrinted>
  <dcterms:created xsi:type="dcterms:W3CDTF">2019-11-12T16:19:56Z</dcterms:created>
  <dcterms:modified xsi:type="dcterms:W3CDTF">2026-03-21T20:23:37Z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0x010100AE0148CE03E12C4A97B128A60B4E5ABD</vt:lpwstr>
  </property>
  <property fmtid="{D5CDD505-2E9C-101B-9397-08002B2CF9AE}" pid="3" name="MediaServiceImageTags">
    <vt:lpwstr/>
  </property>
</Properties>
</file>